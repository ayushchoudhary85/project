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examiners and faculty members. Today I am presenting PHISHGUARD, an autonomous cyber intelligence platform engineered to detect zero-day phishing websites, perform static payload forensics on weaponized files, and audit credential security without data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ethical hacking, understanding threat actor methodologies is essential for building defensive tools. Because modern phishing attacks use ephemeral infrastructure and homoglyphs, reactive blacklisting fails. PhishGuard applies ethical defensive heuristics to identify structural anomalies instantly.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identify the core bottlenecks in current defensive tooling: blacklist lag, IDN homoglyph spoofing, naive entropy misclassification in PDFs, and tool fragmentation. PhishGuard directly addresses each of these four critical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objectives were not theoretical; every single goal shown here has been fully implemented, empirically tested, and verified using an automated 31-test Pytest suite.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comparison table: traditional sandboxes take minutes and introduce isolation risks, while blacklists lag behind zero-day domains. PhishGuard achieves sub-50ms execution safely without VM overhead.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technology shown here is directly verified from requirements.txt and pyproject configurations. No external unverified services or imaginary microservices were introduced.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four-tier system architecture: Presentation, Application Routing, Detection Core, and Persistence. The serverless bridge in api/index.py ensures that the application deploys cleanly on platforms like Vercel with automatic /tmp storage.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shows our two primary workflows: the 5-step URL pipeline on the left, and the file threat inspection workflow on the right. Both emphasize speed, zero-execution safety, and explainable indicator reporting.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main features of PhishGuard reflect our modular design: the URL Scanner, the File Scanner with format-aware entropy, the zero-storage Password Analyzer, and the SOC Dashboard with on-demand PDF report streaming.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actual screenshot of our running settings and telemetry interface, showing our Random Forest 100-tree model and SQLite WAL mode. On the right is the Live URL Scanner. All 31 automated tests passed with zero failures.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academic work, being transparent about limitations demonstrates engineering maturity. We clearly distinguish between current constraints—like serverless ephemeral storage—and our future roadmap items like headless browser rendering and cloud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members of the examination committee, for your time and attention. I now welcome any technical questions regarding the machine learning model, feature extraction algorithms, format-aware entropy, or system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966960" cy="1371600"/>
          </a:xfrm>
          <a:prstGeom prst="rect">
            <a:avLst/>
          </a:prstGeom>
          <a:noFill/>
        </p:spPr>
        <p:txBody>
          <a:bodyPr wrap="square">
            <a:spAutoFit/>
          </a:bodyPr>
          <a:lstStyle/>
          <a:p>
            <a:pPr>
              <a:defRPr sz="4400" b="1">
                <a:solidFill>
                  <a:srgbClr val="00F5A0"/>
                </a:solidFill>
              </a:defRPr>
            </a:pPr>
            <a:r>
              <a:t>PHISHGUARD</a:t>
            </a:r>
          </a:p>
          <a:p>
            <a:pPr>
              <a:defRPr sz="2200" b="1">
                <a:solidFill>
                  <a:srgbClr val="00E5FF"/>
                </a:solidFill>
              </a:defRPr>
            </a:pPr>
            <a:r>
              <a:t>CYBER INTELLIGENCE PLATFORM</a:t>
            </a:r>
          </a:p>
          <a:p>
            <a:pPr>
              <a:defRPr sz="1300">
                <a:solidFill>
                  <a:srgbClr val="94A3B8"/>
                </a:solidFill>
              </a:defRPr>
            </a:pPr>
            <a:r>
              <a:t>An Autonomous Multi-Tier System for Phishing Website Detection, Payload Forensics &amp; Credential Resiliency</a:t>
            </a:r>
          </a:p>
        </p:txBody>
      </p:sp>
      <p:sp>
        <p:nvSpPr>
          <p:cNvPr id="4" name="TextBox 3"/>
          <p:cNvSpPr txBox="1"/>
          <p:nvPr/>
        </p:nvSpPr>
        <p:spPr>
          <a:xfrm>
            <a:off x="1097280" y="3291840"/>
            <a:ext cx="4846320" cy="2377440"/>
          </a:xfrm>
          <a:prstGeom prst="rect">
            <a:avLst/>
          </a:prstGeom>
          <a:noFill/>
        </p:spPr>
        <p:txBody>
          <a:bodyPr wrap="square">
            <a:spAutoFit/>
          </a:bodyPr>
          <a:lstStyle/>
          <a:p>
            <a:pPr>
              <a:defRPr sz="1100" b="1">
                <a:solidFill>
                  <a:srgbClr val="00F5A0"/>
                </a:solidFill>
              </a:defRPr>
            </a:pPr>
            <a:r>
              <a:t>CANDIDATE DETAILS:</a:t>
            </a:r>
          </a:p>
          <a:p>
            <a:pPr>
              <a:defRPr sz="1100">
                <a:solidFill>
                  <a:srgbClr val="F1F5F9"/>
                </a:solidFill>
              </a:defRPr>
            </a:pPr>
            <a:r>
              <a:t>• Student Name: [STUDENT NAME]</a:t>
            </a:r>
            <a:br/>
            <a:r>
              <a:t>• Roll Number: [ROLL NUMBER]</a:t>
            </a:r>
            <a:br/>
            <a:r>
              <a:t>• Course: Bachelor of Technology / MCA</a:t>
            </a:r>
            <a:br/>
            <a:r>
              <a:t>• Department: [COURSE / DEPARTMENT]</a:t>
            </a:r>
            <a:br/>
            <a:r>
              <a:t>• College: [COLLEGE NAME]</a:t>
            </a:r>
          </a:p>
        </p:txBody>
      </p:sp>
      <p:sp>
        <p:nvSpPr>
          <p:cNvPr id="5" name="TextBox 4"/>
          <p:cNvSpPr txBox="1"/>
          <p:nvPr/>
        </p:nvSpPr>
        <p:spPr>
          <a:xfrm>
            <a:off x="6217920" y="3291840"/>
            <a:ext cx="4846320" cy="2377440"/>
          </a:xfrm>
          <a:prstGeom prst="rect">
            <a:avLst/>
          </a:prstGeom>
          <a:noFill/>
        </p:spPr>
        <p:txBody>
          <a:bodyPr wrap="square">
            <a:spAutoFit/>
          </a:bodyPr>
          <a:lstStyle/>
          <a:p>
            <a:pPr>
              <a:defRPr sz="1100" b="1">
                <a:solidFill>
                  <a:srgbClr val="00E5FF"/>
                </a:solidFill>
              </a:defRPr>
            </a:pPr>
            <a:r>
              <a:t>ACADEMIC SUPERVISION:</a:t>
            </a:r>
          </a:p>
          <a:p>
            <a:pPr>
              <a:defRPr sz="1100">
                <a:solidFill>
                  <a:srgbClr val="F1F5F9"/>
                </a:solidFill>
              </a:defRPr>
            </a:pPr>
            <a:r>
              <a:t>• Project Guide: [GUIDE NAME]</a:t>
            </a:r>
            <a:br/>
            <a:r>
              <a:t>• Designation: [DESIGNATION]</a:t>
            </a:r>
            <a:br/>
            <a:r>
              <a:t>• Department: [DEPARTMENT NAME]</a:t>
            </a:r>
            <a:br/>
            <a:r>
              <a:t>• Academic Session: [ACADEMIC SESSION]</a:t>
            </a:r>
            <a:br/>
            <a:r>
              <a:t>• Status: Fully Implemented &amp; Verified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Introduction to Ethical Hacking &amp; Defensive Intelligence</a:t>
            </a:r>
          </a:p>
        </p:txBody>
      </p:sp>
      <p:sp>
        <p:nvSpPr>
          <p:cNvPr id="4" name="Rounded Rectangle 3"/>
          <p:cNvSpPr/>
          <p:nvPr/>
        </p:nvSpPr>
        <p:spPr>
          <a:xfrm>
            <a:off x="731520" y="1463040"/>
            <a:ext cx="3383280" cy="475488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4389120"/>
          </a:xfrm>
          <a:prstGeom prst="rect">
            <a:avLst/>
          </a:prstGeom>
          <a:noFill/>
        </p:spPr>
        <p:txBody>
          <a:bodyPr wrap="square">
            <a:spAutoFit/>
          </a:bodyPr>
          <a:lstStyle/>
          <a:p>
            <a:pPr>
              <a:defRPr sz="1600" b="1">
                <a:solidFill>
                  <a:srgbClr val="00E5FF"/>
                </a:solidFill>
              </a:defRPr>
            </a:pPr>
            <a:r>
              <a:t>Defensive Ethical Hacking</a:t>
            </a:r>
          </a:p>
          <a:p>
            <a:br/>
            <a:pPr>
              <a:defRPr sz="1100">
                <a:solidFill>
                  <a:srgbClr val="F1F5F9"/>
                </a:solidFill>
              </a:defRPr>
            </a:pPr>
            <a:r>
              <a:t>• Authorized proactive identification of security weaknesses before adversaries exploit them.</a:t>
            </a:r>
            <a:br/>
            <a:br/>
            <a:r>
              <a:t>• Focuses on evaluating the victim's attack surface: suspicious links, malicious attachments, and weak credentials.</a:t>
            </a:r>
            <a:br/>
            <a:br/>
            <a:r>
              <a:t>• Adopts adversary mindsets to engineer automated defensive telemetry.</a:t>
            </a:r>
          </a:p>
        </p:txBody>
      </p:sp>
      <p:sp>
        <p:nvSpPr>
          <p:cNvPr id="6" name="Rounded Rectangle 5"/>
          <p:cNvSpPr/>
          <p:nvPr/>
        </p:nvSpPr>
        <p:spPr>
          <a:xfrm>
            <a:off x="4389120" y="1463040"/>
            <a:ext cx="3383280" cy="475488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4389120"/>
          </a:xfrm>
          <a:prstGeom prst="rect">
            <a:avLst/>
          </a:prstGeom>
          <a:noFill/>
        </p:spPr>
        <p:txBody>
          <a:bodyPr wrap="square">
            <a:spAutoFit/>
          </a:bodyPr>
          <a:lstStyle/>
          <a:p>
            <a:pPr>
              <a:defRPr sz="1600" b="1">
                <a:solidFill>
                  <a:srgbClr val="00F5A0"/>
                </a:solidFill>
              </a:defRPr>
            </a:pPr>
            <a:r>
              <a:t>Phishing: The Primary Breach Vector</a:t>
            </a:r>
          </a:p>
          <a:p>
            <a:br/>
            <a:pPr>
              <a:defRPr sz="1100">
                <a:solidFill>
                  <a:srgbClr val="F1F5F9"/>
                </a:solidFill>
              </a:defRPr>
            </a:pPr>
            <a:r>
              <a:t>• Over 80% of confirmed enterprise breaches originate from stolen credentials or weaponized links.</a:t>
            </a:r>
            <a:br/>
            <a:br/>
            <a:r>
              <a:t>• Attackers leverage homoglyphs, brand typosquatting, and obfuscated subdomains.</a:t>
            </a:r>
            <a:br/>
            <a:br/>
            <a:r>
              <a:t>• Blacklists fail to prevent zero-day campaigns that dismantle infrastructure in under 6 hours.</a:t>
            </a:r>
          </a:p>
        </p:txBody>
      </p:sp>
      <p:sp>
        <p:nvSpPr>
          <p:cNvPr id="8" name="Rounded Rectangle 7"/>
          <p:cNvSpPr/>
          <p:nvPr/>
        </p:nvSpPr>
        <p:spPr>
          <a:xfrm>
            <a:off x="8046720" y="1463040"/>
            <a:ext cx="3383280" cy="4754880"/>
          </a:xfrm>
          <a:prstGeom prst="roundRect">
            <a:avLst/>
          </a:prstGeom>
          <a:solidFill>
            <a:srgbClr val="12141A"/>
          </a:solidFill>
          <a:ln w="12700">
            <a:solidFill>
              <a:srgbClr val="28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389120"/>
          </a:xfrm>
          <a:prstGeom prst="rect">
            <a:avLst/>
          </a:prstGeom>
          <a:noFill/>
        </p:spPr>
        <p:txBody>
          <a:bodyPr wrap="square">
            <a:spAutoFit/>
          </a:bodyPr>
          <a:lstStyle/>
          <a:p>
            <a:pPr>
              <a:defRPr sz="1600" b="1">
                <a:solidFill>
                  <a:srgbClr val="F1F5F9"/>
                </a:solidFill>
              </a:defRPr>
            </a:pPr>
            <a:r>
              <a:t>PhishGuard's Role</a:t>
            </a:r>
          </a:p>
          <a:p>
            <a:br/>
            <a:pPr>
              <a:defRPr sz="1100">
                <a:solidFill>
                  <a:srgbClr val="F1F5F9"/>
                </a:solidFill>
              </a:defRPr>
            </a:pPr>
            <a:r>
              <a:t>• Provides proactive behavioral inspection without relying on slow blacklist updates.</a:t>
            </a:r>
            <a:br/>
            <a:br/>
            <a:r>
              <a:t>• Examines 26 structural URL features, format-aware byte entropy, and cryptographic magic bytes.</a:t>
            </a:r>
            <a:br/>
            <a:br/>
            <a:r>
              <a:t>• Equips SOC analysts with immediate explainable threat 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Problem Statement: Challenges in Modern Cyber Threat Detection</a:t>
            </a:r>
          </a:p>
        </p:txBody>
      </p:sp>
      <p:sp>
        <p:nvSpPr>
          <p:cNvPr id="4" name="Rounded Rectangle 3"/>
          <p:cNvSpPr/>
          <p:nvPr/>
        </p:nvSpPr>
        <p:spPr>
          <a:xfrm>
            <a:off x="731520" y="1463040"/>
            <a:ext cx="5120640" cy="2194560"/>
          </a:xfrm>
          <a:prstGeom prst="roundRect">
            <a:avLst/>
          </a:prstGeom>
          <a:solidFill>
            <a:srgbClr val="12141A"/>
          </a:solidFill>
          <a:ln w="12700">
            <a:solidFill>
              <a:srgbClr val="28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1828800"/>
          </a:xfrm>
          <a:prstGeom prst="rect">
            <a:avLst/>
          </a:prstGeom>
          <a:noFill/>
        </p:spPr>
        <p:txBody>
          <a:bodyPr wrap="square">
            <a:spAutoFit/>
          </a:bodyPr>
          <a:lstStyle/>
          <a:p>
            <a:pPr>
              <a:defRPr sz="1400" b="1">
                <a:solidFill>
                  <a:srgbClr val="00F5A0"/>
                </a:solidFill>
              </a:defRPr>
            </a:pPr>
            <a:r>
              <a:t>1. Blacklist Latency Window</a:t>
            </a:r>
          </a:p>
          <a:p>
            <a:pPr>
              <a:defRPr sz="1050">
                <a:solidFill>
                  <a:srgbClr val="F1F5F9"/>
                </a:solidFill>
              </a:defRPr>
            </a:pPr>
            <a:r>
              <a:t>Static blocklists (Google Safe Browsing, PhishTank) suffer from an unavoidable temporal lag of several hours to days, leaving users defenseless against zero-day campaigns.</a:t>
            </a:r>
          </a:p>
        </p:txBody>
      </p:sp>
      <p:sp>
        <p:nvSpPr>
          <p:cNvPr id="6" name="Rounded Rectangle 5"/>
          <p:cNvSpPr/>
          <p:nvPr/>
        </p:nvSpPr>
        <p:spPr>
          <a:xfrm>
            <a:off x="6126480" y="1463040"/>
            <a:ext cx="5120640" cy="2194560"/>
          </a:xfrm>
          <a:prstGeom prst="roundRect">
            <a:avLst/>
          </a:prstGeom>
          <a:solidFill>
            <a:srgbClr val="12141A"/>
          </a:solidFill>
          <a:ln w="12700">
            <a:solidFill>
              <a:srgbClr val="28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4754880" cy="1828800"/>
          </a:xfrm>
          <a:prstGeom prst="rect">
            <a:avLst/>
          </a:prstGeom>
          <a:noFill/>
        </p:spPr>
        <p:txBody>
          <a:bodyPr wrap="square">
            <a:spAutoFit/>
          </a:bodyPr>
          <a:lstStyle/>
          <a:p>
            <a:pPr>
              <a:defRPr sz="1400" b="1">
                <a:solidFill>
                  <a:srgbClr val="00F5A0"/>
                </a:solidFill>
              </a:defRPr>
            </a:pPr>
            <a:r>
              <a:t>2. Advanced Lexical Obfuscation</a:t>
            </a:r>
          </a:p>
          <a:p>
            <a:pPr>
              <a:defRPr sz="1050">
                <a:solidFill>
                  <a:srgbClr val="F1F5F9"/>
                </a:solidFill>
              </a:defRPr>
            </a:pPr>
            <a:r>
              <a:t>Adversaries weaponize IDN punycode homoglyphs (e.g. Cyrillic 'a' spoofing 'apple.com') and high-entropy algorithmically generated subdomains that bypass naive regex filters.</a:t>
            </a:r>
          </a:p>
        </p:txBody>
      </p:sp>
      <p:sp>
        <p:nvSpPr>
          <p:cNvPr id="8" name="Rounded Rectangle 7"/>
          <p:cNvSpPr/>
          <p:nvPr/>
        </p:nvSpPr>
        <p:spPr>
          <a:xfrm>
            <a:off x="731520" y="3931920"/>
            <a:ext cx="5120640" cy="2194560"/>
          </a:xfrm>
          <a:prstGeom prst="roundRect">
            <a:avLst/>
          </a:prstGeom>
          <a:solidFill>
            <a:srgbClr val="12141A"/>
          </a:solidFill>
          <a:ln w="12700">
            <a:solidFill>
              <a:srgbClr val="28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754880" cy="1828800"/>
          </a:xfrm>
          <a:prstGeom prst="rect">
            <a:avLst/>
          </a:prstGeom>
          <a:noFill/>
        </p:spPr>
        <p:txBody>
          <a:bodyPr wrap="square">
            <a:spAutoFit/>
          </a:bodyPr>
          <a:lstStyle/>
          <a:p>
            <a:pPr>
              <a:defRPr sz="1400" b="1">
                <a:solidFill>
                  <a:srgbClr val="00F5A0"/>
                </a:solidFill>
              </a:defRPr>
            </a:pPr>
            <a:r>
              <a:t>3. Naive File Entropy Misclassification</a:t>
            </a:r>
          </a:p>
          <a:p>
            <a:pPr>
              <a:defRPr sz="1050">
                <a:solidFill>
                  <a:srgbClr val="F1F5F9"/>
                </a:solidFill>
              </a:defRPr>
            </a:pPr>
            <a:r>
              <a:t>Standard static scanners misflag legitimate compressed files (.pdf, .zip, .docx) as packed malware because Deflate compression naturally produces high entropy (7.2-8.0 bits).</a:t>
            </a:r>
          </a:p>
        </p:txBody>
      </p:sp>
      <p:sp>
        <p:nvSpPr>
          <p:cNvPr id="10" name="Rounded Rectangle 9"/>
          <p:cNvSpPr/>
          <p:nvPr/>
        </p:nvSpPr>
        <p:spPr>
          <a:xfrm>
            <a:off x="6126480" y="3931920"/>
            <a:ext cx="5120640" cy="2194560"/>
          </a:xfrm>
          <a:prstGeom prst="roundRect">
            <a:avLst/>
          </a:prstGeom>
          <a:solidFill>
            <a:srgbClr val="12141A"/>
          </a:solidFill>
          <a:ln w="12700">
            <a:solidFill>
              <a:srgbClr val="282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114800"/>
            <a:ext cx="4754880" cy="1828800"/>
          </a:xfrm>
          <a:prstGeom prst="rect">
            <a:avLst/>
          </a:prstGeom>
          <a:noFill/>
        </p:spPr>
        <p:txBody>
          <a:bodyPr wrap="square">
            <a:spAutoFit/>
          </a:bodyPr>
          <a:lstStyle/>
          <a:p>
            <a:pPr>
              <a:defRPr sz="1400" b="1">
                <a:solidFill>
                  <a:srgbClr val="00F5A0"/>
                </a:solidFill>
              </a:defRPr>
            </a:pPr>
            <a:r>
              <a:t>4. Analysis Tool Fragmentation</a:t>
            </a:r>
          </a:p>
          <a:p>
            <a:pPr>
              <a:defRPr sz="1050">
                <a:solidFill>
                  <a:srgbClr val="F1F5F9"/>
                </a:solidFill>
              </a:defRPr>
            </a:pPr>
            <a:r>
              <a:t>Security teams lack a unified workstation, forcing analysts to juggle separate hashing utilities, sandbox environments, and external password testers that risk data leakage.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Project Objectives: Practical &amp; Measurable Goals</a:t>
            </a:r>
          </a:p>
        </p:txBody>
      </p:sp>
      <p:sp>
        <p:nvSpPr>
          <p:cNvPr id="4" name="Rounded Rectangle 3"/>
          <p:cNvSpPr/>
          <p:nvPr/>
        </p:nvSpPr>
        <p:spPr>
          <a:xfrm>
            <a:off x="731520" y="1463040"/>
            <a:ext cx="3383280" cy="219456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1828800"/>
          </a:xfrm>
          <a:prstGeom prst="rect">
            <a:avLst/>
          </a:prstGeom>
          <a:noFill/>
        </p:spPr>
        <p:txBody>
          <a:bodyPr wrap="square">
            <a:spAutoFit/>
          </a:bodyPr>
          <a:lstStyle/>
          <a:p>
            <a:pPr>
              <a:defRPr sz="1300" b="1">
                <a:solidFill>
                  <a:srgbClr val="00E5FF"/>
                </a:solidFill>
              </a:defRPr>
            </a:pPr>
            <a:r>
              <a:t>Goal 1: 26-Dimensional Feature Extractor</a:t>
            </a:r>
          </a:p>
          <a:p>
            <a:pPr>
              <a:defRPr sz="1000">
                <a:solidFill>
                  <a:srgbClr val="F1F5F9"/>
                </a:solidFill>
              </a:defRPr>
            </a:pPr>
            <a:r>
              <a:t>Extract 26 structural, lexical, entropy, and typosquatting features from raw URLs in &lt; 50 milliseconds.</a:t>
            </a:r>
          </a:p>
        </p:txBody>
      </p:sp>
      <p:sp>
        <p:nvSpPr>
          <p:cNvPr id="6" name="Rounded Rectangle 5"/>
          <p:cNvSpPr/>
          <p:nvPr/>
        </p:nvSpPr>
        <p:spPr>
          <a:xfrm>
            <a:off x="4297680" y="1463040"/>
            <a:ext cx="3383280" cy="219456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645920"/>
            <a:ext cx="3017520" cy="1828800"/>
          </a:xfrm>
          <a:prstGeom prst="rect">
            <a:avLst/>
          </a:prstGeom>
          <a:noFill/>
        </p:spPr>
        <p:txBody>
          <a:bodyPr wrap="square">
            <a:spAutoFit/>
          </a:bodyPr>
          <a:lstStyle/>
          <a:p>
            <a:pPr>
              <a:defRPr sz="1300" b="1">
                <a:solidFill>
                  <a:srgbClr val="00F5A0"/>
                </a:solidFill>
              </a:defRPr>
            </a:pPr>
            <a:r>
              <a:t>Goal 2: Supervised Machine Learning</a:t>
            </a:r>
          </a:p>
          <a:p>
            <a:pPr>
              <a:defRPr sz="1000">
                <a:solidFill>
                  <a:srgbClr val="F1F5F9"/>
                </a:solidFill>
              </a:defRPr>
            </a:pPr>
            <a:r>
              <a:t>Train and deploy a Random Forest classifier (100 estimators) achieving &gt; 90% validation accuracy.</a:t>
            </a:r>
          </a:p>
        </p:txBody>
      </p:sp>
      <p:sp>
        <p:nvSpPr>
          <p:cNvPr id="8" name="Rounded Rectangle 7"/>
          <p:cNvSpPr/>
          <p:nvPr/>
        </p:nvSpPr>
        <p:spPr>
          <a:xfrm>
            <a:off x="7863840" y="1463040"/>
            <a:ext cx="3383280" cy="219456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645920"/>
            <a:ext cx="3017520" cy="1828800"/>
          </a:xfrm>
          <a:prstGeom prst="rect">
            <a:avLst/>
          </a:prstGeom>
          <a:noFill/>
        </p:spPr>
        <p:txBody>
          <a:bodyPr wrap="square">
            <a:spAutoFit/>
          </a:bodyPr>
          <a:lstStyle/>
          <a:p>
            <a:pPr>
              <a:defRPr sz="1300" b="1">
                <a:solidFill>
                  <a:srgbClr val="00E5FF"/>
                </a:solidFill>
              </a:defRPr>
            </a:pPr>
            <a:r>
              <a:t>Goal 3: Calibrated Composite Risk Scoring</a:t>
            </a:r>
          </a:p>
          <a:p>
            <a:pPr>
              <a:defRPr sz="1000">
                <a:solidFill>
                  <a:srgbClr val="F1F5F9"/>
                </a:solidFill>
              </a:defRPr>
            </a:pPr>
            <a:r>
              <a:t>Combine probabilistic ML inference with heuristic rule penalties into an explainable 0 to 100 risk score.</a:t>
            </a:r>
          </a:p>
        </p:txBody>
      </p:sp>
      <p:sp>
        <p:nvSpPr>
          <p:cNvPr id="10" name="Rounded Rectangle 9"/>
          <p:cNvSpPr/>
          <p:nvPr/>
        </p:nvSpPr>
        <p:spPr>
          <a:xfrm>
            <a:off x="731520" y="3931920"/>
            <a:ext cx="3383280" cy="219456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3017520" cy="1828800"/>
          </a:xfrm>
          <a:prstGeom prst="rect">
            <a:avLst/>
          </a:prstGeom>
          <a:noFill/>
        </p:spPr>
        <p:txBody>
          <a:bodyPr wrap="square">
            <a:spAutoFit/>
          </a:bodyPr>
          <a:lstStyle/>
          <a:p>
            <a:pPr>
              <a:defRPr sz="1300" b="1">
                <a:solidFill>
                  <a:srgbClr val="00F5A0"/>
                </a:solidFill>
              </a:defRPr>
            </a:pPr>
            <a:r>
              <a:t>Goal 4: Format-Aware File Forensics</a:t>
            </a:r>
          </a:p>
          <a:p>
            <a:pPr>
              <a:defRPr sz="1000">
                <a:solidFill>
                  <a:srgbClr val="F1F5F9"/>
                </a:solidFill>
              </a:defRPr>
            </a:pPr>
            <a:r>
              <a:t>Inspect file buffers in volatile memory; calculate SHA-256/SHA-1/MD5, verify magic bytes, and contextualize entropy.</a:t>
            </a:r>
          </a:p>
        </p:txBody>
      </p:sp>
      <p:sp>
        <p:nvSpPr>
          <p:cNvPr id="12" name="Rounded Rectangle 11"/>
          <p:cNvSpPr/>
          <p:nvPr/>
        </p:nvSpPr>
        <p:spPr>
          <a:xfrm>
            <a:off x="4297680" y="3931920"/>
            <a:ext cx="3383280" cy="219456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4114800"/>
            <a:ext cx="3017520" cy="1828800"/>
          </a:xfrm>
          <a:prstGeom prst="rect">
            <a:avLst/>
          </a:prstGeom>
          <a:noFill/>
        </p:spPr>
        <p:txBody>
          <a:bodyPr wrap="square">
            <a:spAutoFit/>
          </a:bodyPr>
          <a:lstStyle/>
          <a:p>
            <a:pPr>
              <a:defRPr sz="1300" b="1">
                <a:solidFill>
                  <a:srgbClr val="00E5FF"/>
                </a:solidFill>
              </a:defRPr>
            </a:pPr>
            <a:r>
              <a:t>Goal 5: Antivirus Bridge &amp; Fallback</a:t>
            </a:r>
          </a:p>
          <a:p>
            <a:pPr>
              <a:defRPr sz="1000">
                <a:solidFill>
                  <a:srgbClr val="F1F5F9"/>
                </a:solidFill>
              </a:defRPr>
            </a:pPr>
            <a:r>
              <a:t>Dynamically probe ClamAV installations with automated fallback to static heuristics (Limited Analysis) when offline.</a:t>
            </a:r>
          </a:p>
        </p:txBody>
      </p:sp>
      <p:sp>
        <p:nvSpPr>
          <p:cNvPr id="14" name="Rounded Rectangle 13"/>
          <p:cNvSpPr/>
          <p:nvPr/>
        </p:nvSpPr>
        <p:spPr>
          <a:xfrm>
            <a:off x="7863840" y="3931920"/>
            <a:ext cx="3383280" cy="219456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114800"/>
            <a:ext cx="3017520" cy="1828800"/>
          </a:xfrm>
          <a:prstGeom prst="rect">
            <a:avLst/>
          </a:prstGeom>
          <a:noFill/>
        </p:spPr>
        <p:txBody>
          <a:bodyPr wrap="square">
            <a:spAutoFit/>
          </a:bodyPr>
          <a:lstStyle/>
          <a:p>
            <a:pPr>
              <a:defRPr sz="1300" b="1">
                <a:solidFill>
                  <a:srgbClr val="00F5A0"/>
                </a:solidFill>
              </a:defRPr>
            </a:pPr>
            <a:r>
              <a:t>Goal 6: Zero-Storage Password Defense</a:t>
            </a:r>
          </a:p>
          <a:p>
            <a:pPr>
              <a:defRPr sz="1000">
                <a:solidFill>
                  <a:srgbClr val="F1F5F9"/>
                </a:solidFill>
              </a:defRPr>
            </a:pPr>
            <a:r>
              <a:t>Calculate true mathematical Shannon entropy in bits and audit dictionary patterns with zero database persistence.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System Comparison: Traditional Defenses vs PHISHGUARD</a:t>
            </a:r>
          </a:p>
        </p:txBody>
      </p:sp>
      <p:graphicFrame>
        <p:nvGraphicFramePr>
          <p:cNvPr id="4" name="Table 3"/>
          <p:cNvGraphicFramePr>
            <a:graphicFrameLocks noGrp="1"/>
          </p:cNvGraphicFramePr>
          <p:nvPr/>
        </p:nvGraphicFramePr>
        <p:xfrm>
          <a:off x="731520" y="1463040"/>
          <a:ext cx="10728655" cy="4663440"/>
        </p:xfrm>
        <a:graphic>
          <a:graphicData uri="http://schemas.openxmlformats.org/drawingml/2006/table">
            <a:tbl>
              <a:tblPr firstRow="1" bandRow="1">
                <a:tableStyleId>{5C22544A-7EE6-4342-B048-85BDC9FD1C3A}</a:tableStyleId>
              </a:tblPr>
              <a:tblGrid>
                <a:gridCol w="2560320"/>
                <a:gridCol w="2560320"/>
                <a:gridCol w="2560320"/>
                <a:gridCol w="3047695"/>
              </a:tblGrid>
              <a:tr h="777240">
                <a:tc>
                  <a:txBody>
                    <a:bodyPr/>
                    <a:lstStyle/>
                    <a:p>
                      <a:pPr>
                        <a:defRPr sz="1100" b="1">
                          <a:solidFill>
                            <a:srgbClr val="F1F5F9"/>
                          </a:solidFill>
                        </a:defRPr>
                      </a:pPr>
                      <a:r>
                        <a:t>Feature / Capability</a:t>
                      </a:r>
                    </a:p>
                  </a:txBody>
                  <a:tcPr>
                    <a:solidFill>
                      <a:srgbClr val="12141A"/>
                    </a:solidFill>
                  </a:tcPr>
                </a:tc>
                <a:tc>
                  <a:txBody>
                    <a:bodyPr/>
                    <a:lstStyle/>
                    <a:p>
                      <a:pPr>
                        <a:defRPr sz="1100" b="1">
                          <a:solidFill>
                            <a:srgbClr val="F1F5F9"/>
                          </a:solidFill>
                        </a:defRPr>
                      </a:pPr>
                      <a:r>
                        <a:t>Traditional Blacklists</a:t>
                      </a:r>
                    </a:p>
                  </a:txBody>
                  <a:tcPr>
                    <a:solidFill>
                      <a:srgbClr val="12141A"/>
                    </a:solidFill>
                  </a:tcPr>
                </a:tc>
                <a:tc>
                  <a:txBody>
                    <a:bodyPr/>
                    <a:lstStyle/>
                    <a:p>
                      <a:pPr>
                        <a:defRPr sz="1100" b="1">
                          <a:solidFill>
                            <a:srgbClr val="F1F5F9"/>
                          </a:solidFill>
                        </a:defRPr>
                      </a:pPr>
                      <a:r>
                        <a:t>Legacy Antivirus / Sandboxes</a:t>
                      </a:r>
                    </a:p>
                  </a:txBody>
                  <a:tcPr>
                    <a:solidFill>
                      <a:srgbClr val="12141A"/>
                    </a:solidFill>
                  </a:tcPr>
                </a:tc>
                <a:tc>
                  <a:txBody>
                    <a:bodyPr/>
                    <a:lstStyle/>
                    <a:p>
                      <a:pPr>
                        <a:defRPr sz="1100" b="1">
                          <a:solidFill>
                            <a:srgbClr val="00F5A0"/>
                          </a:solidFill>
                        </a:defRPr>
                      </a:pPr>
                      <a:r>
                        <a:t>PHISHGUARD (Proposed)</a:t>
                      </a:r>
                    </a:p>
                  </a:txBody>
                  <a:tcPr>
                    <a:solidFill>
                      <a:srgbClr val="12141A"/>
                    </a:solidFill>
                  </a:tcPr>
                </a:tc>
              </a:tr>
              <a:tr h="777240">
                <a:tc>
                  <a:txBody>
                    <a:bodyPr/>
                    <a:lstStyle/>
                    <a:p>
                      <a:pPr>
                        <a:defRPr sz="1000">
                          <a:solidFill>
                            <a:srgbClr val="94A3B8"/>
                          </a:solidFill>
                        </a:defRPr>
                      </a:pPr>
                      <a:r>
                        <a:t>Zero-Day URL Detection</a:t>
                      </a:r>
                    </a:p>
                  </a:txBody>
                  <a:tcPr>
                    <a:solidFill>
                      <a:srgbClr val="12141A"/>
                    </a:solidFill>
                  </a:tcPr>
                </a:tc>
                <a:tc>
                  <a:txBody>
                    <a:bodyPr/>
                    <a:lstStyle/>
                    <a:p>
                      <a:pPr>
                        <a:defRPr sz="1000">
                          <a:solidFill>
                            <a:srgbClr val="94A3B8"/>
                          </a:solidFill>
                        </a:defRPr>
                      </a:pPr>
                      <a:r>
                        <a:t>Blind until reported &amp; indexed</a:t>
                      </a:r>
                    </a:p>
                  </a:txBody>
                  <a:tcPr>
                    <a:solidFill>
                      <a:srgbClr val="12141A"/>
                    </a:solidFill>
                  </a:tcPr>
                </a:tc>
                <a:tc>
                  <a:txBody>
                    <a:bodyPr/>
                    <a:lstStyle/>
                    <a:p>
                      <a:pPr>
                        <a:defRPr sz="1000">
                          <a:solidFill>
                            <a:srgbClr val="94A3B8"/>
                          </a:solidFill>
                        </a:defRPr>
                      </a:pPr>
                      <a:r>
                        <a:t>Incapable of lexical URL analysis</a:t>
                      </a:r>
                    </a:p>
                  </a:txBody>
                  <a:tcPr>
                    <a:solidFill>
                      <a:srgbClr val="12141A"/>
                    </a:solidFill>
                  </a:tcPr>
                </a:tc>
                <a:tc>
                  <a:txBody>
                    <a:bodyPr/>
                    <a:lstStyle/>
                    <a:p>
                      <a:pPr>
                        <a:defRPr sz="1000">
                          <a:solidFill>
                            <a:srgbClr val="00F5A0"/>
                          </a:solidFill>
                        </a:defRPr>
                      </a:pPr>
                      <a:r>
                        <a:t>Analyzes 26 intrinsic features via Random Forest</a:t>
                      </a:r>
                    </a:p>
                  </a:txBody>
                  <a:tcPr>
                    <a:solidFill>
                      <a:srgbClr val="12141A"/>
                    </a:solidFill>
                  </a:tcPr>
                </a:tc>
              </a:tr>
              <a:tr h="777240">
                <a:tc>
                  <a:txBody>
                    <a:bodyPr/>
                    <a:lstStyle/>
                    <a:p>
                      <a:pPr>
                        <a:defRPr sz="1000">
                          <a:solidFill>
                            <a:srgbClr val="94A3B8"/>
                          </a:solidFill>
                        </a:defRPr>
                      </a:pPr>
                      <a:r>
                        <a:t>Analysis Latency</a:t>
                      </a:r>
                    </a:p>
                  </a:txBody>
                  <a:tcPr>
                    <a:solidFill>
                      <a:srgbClr val="0E1016"/>
                    </a:solidFill>
                  </a:tcPr>
                </a:tc>
                <a:tc>
                  <a:txBody>
                    <a:bodyPr/>
                    <a:lstStyle/>
                    <a:p>
                      <a:pPr>
                        <a:defRPr sz="1000">
                          <a:solidFill>
                            <a:srgbClr val="94A3B8"/>
                          </a:solidFill>
                        </a:defRPr>
                      </a:pPr>
                      <a:r>
                        <a:t>Near-zero (for cached entries)</a:t>
                      </a:r>
                    </a:p>
                  </a:txBody>
                  <a:tcPr>
                    <a:solidFill>
                      <a:srgbClr val="0E1016"/>
                    </a:solidFill>
                  </a:tcPr>
                </a:tc>
                <a:tc>
                  <a:txBody>
                    <a:bodyPr/>
                    <a:lstStyle/>
                    <a:p>
                      <a:pPr>
                        <a:defRPr sz="1000">
                          <a:solidFill>
                            <a:srgbClr val="94A3B8"/>
                          </a:solidFill>
                        </a:defRPr>
                      </a:pPr>
                      <a:r>
                        <a:t>Heavy: 3 to 10 minutes (VM sandbox)</a:t>
                      </a:r>
                    </a:p>
                  </a:txBody>
                  <a:tcPr>
                    <a:solidFill>
                      <a:srgbClr val="0E1016"/>
                    </a:solidFill>
                  </a:tcPr>
                </a:tc>
                <a:tc>
                  <a:txBody>
                    <a:bodyPr/>
                    <a:lstStyle/>
                    <a:p>
                      <a:pPr>
                        <a:defRPr sz="1000">
                          <a:solidFill>
                            <a:srgbClr val="00F5A0"/>
                          </a:solidFill>
                        </a:defRPr>
                      </a:pPr>
                      <a:r>
                        <a:t>Ultra-fast: &lt; 50ms average execution</a:t>
                      </a:r>
                    </a:p>
                  </a:txBody>
                  <a:tcPr>
                    <a:solidFill>
                      <a:srgbClr val="0E1016"/>
                    </a:solidFill>
                  </a:tcPr>
                </a:tc>
              </a:tr>
              <a:tr h="777240">
                <a:tc>
                  <a:txBody>
                    <a:bodyPr/>
                    <a:lstStyle/>
                    <a:p>
                      <a:pPr>
                        <a:defRPr sz="1000">
                          <a:solidFill>
                            <a:srgbClr val="94A3B8"/>
                          </a:solidFill>
                        </a:defRPr>
                      </a:pPr>
                      <a:r>
                        <a:t>File Entropy Handling</a:t>
                      </a:r>
                    </a:p>
                  </a:txBody>
                  <a:tcPr>
                    <a:solidFill>
                      <a:srgbClr val="12141A"/>
                    </a:solidFill>
                  </a:tcPr>
                </a:tc>
                <a:tc>
                  <a:txBody>
                    <a:bodyPr/>
                    <a:lstStyle/>
                    <a:p>
                      <a:pPr>
                        <a:defRPr sz="1000">
                          <a:solidFill>
                            <a:srgbClr val="94A3B8"/>
                          </a:solidFill>
                        </a:defRPr>
                      </a:pPr>
                      <a:r>
                        <a:t>N/A (No file support)</a:t>
                      </a:r>
                    </a:p>
                  </a:txBody>
                  <a:tcPr>
                    <a:solidFill>
                      <a:srgbClr val="12141A"/>
                    </a:solidFill>
                  </a:tcPr>
                </a:tc>
                <a:tc>
                  <a:txBody>
                    <a:bodyPr/>
                    <a:lstStyle/>
                    <a:p>
                      <a:pPr>
                        <a:defRPr sz="1000">
                          <a:solidFill>
                            <a:srgbClr val="94A3B8"/>
                          </a:solidFill>
                        </a:defRPr>
                      </a:pPr>
                      <a:r>
                        <a:t>Naive threshold; misflags PDFs &amp; ZIPs</a:t>
                      </a:r>
                    </a:p>
                  </a:txBody>
                  <a:tcPr>
                    <a:solidFill>
                      <a:srgbClr val="12141A"/>
                    </a:solidFill>
                  </a:tcPr>
                </a:tc>
                <a:tc>
                  <a:txBody>
                    <a:bodyPr/>
                    <a:lstStyle/>
                    <a:p>
                      <a:pPr>
                        <a:defRPr sz="1000">
                          <a:solidFill>
                            <a:srgbClr val="00F5A0"/>
                          </a:solidFill>
                        </a:defRPr>
                      </a:pPr>
                      <a:r>
                        <a:t>Format-aware ruleset prevents false positives</a:t>
                      </a:r>
                    </a:p>
                  </a:txBody>
                  <a:tcPr>
                    <a:solidFill>
                      <a:srgbClr val="12141A"/>
                    </a:solidFill>
                  </a:tcPr>
                </a:tc>
              </a:tr>
              <a:tr h="777240">
                <a:tc>
                  <a:txBody>
                    <a:bodyPr/>
                    <a:lstStyle/>
                    <a:p>
                      <a:pPr>
                        <a:defRPr sz="1000">
                          <a:solidFill>
                            <a:srgbClr val="94A3B8"/>
                          </a:solidFill>
                        </a:defRPr>
                      </a:pPr>
                      <a:r>
                        <a:t>Host Execution Safety</a:t>
                      </a:r>
                    </a:p>
                  </a:txBody>
                  <a:tcPr>
                    <a:solidFill>
                      <a:srgbClr val="0E1016"/>
                    </a:solidFill>
                  </a:tcPr>
                </a:tc>
                <a:tc>
                  <a:txBody>
                    <a:bodyPr/>
                    <a:lstStyle/>
                    <a:p>
                      <a:pPr>
                        <a:defRPr sz="1000">
                          <a:solidFill>
                            <a:srgbClr val="94A3B8"/>
                          </a:solidFill>
                        </a:defRPr>
                      </a:pPr>
                      <a:r>
                        <a:t>Safe (Redirect check)</a:t>
                      </a:r>
                    </a:p>
                  </a:txBody>
                  <a:tcPr>
                    <a:solidFill>
                      <a:srgbClr val="0E1016"/>
                    </a:solidFill>
                  </a:tcPr>
                </a:tc>
                <a:tc>
                  <a:txBody>
                    <a:bodyPr/>
                    <a:lstStyle/>
                    <a:p>
                      <a:pPr>
                        <a:defRPr sz="1000">
                          <a:solidFill>
                            <a:srgbClr val="94A3B8"/>
                          </a:solidFill>
                        </a:defRPr>
                      </a:pPr>
                      <a:r>
                        <a:t>Risky (Requires dynamic payload run)</a:t>
                      </a:r>
                    </a:p>
                  </a:txBody>
                  <a:tcPr>
                    <a:solidFill>
                      <a:srgbClr val="0E1016"/>
                    </a:solidFill>
                  </a:tcPr>
                </a:tc>
                <a:tc>
                  <a:txBody>
                    <a:bodyPr/>
                    <a:lstStyle/>
                    <a:p>
                      <a:pPr>
                        <a:defRPr sz="1000">
                          <a:solidFill>
                            <a:srgbClr val="00F5A0"/>
                          </a:solidFill>
                        </a:defRPr>
                      </a:pPr>
                      <a:r>
                        <a:t>Zero-execution: In-memory byte inspection</a:t>
                      </a:r>
                    </a:p>
                  </a:txBody>
                  <a:tcPr>
                    <a:solidFill>
                      <a:srgbClr val="0E1016"/>
                    </a:solidFill>
                  </a:tcPr>
                </a:tc>
              </a:tr>
              <a:tr h="777240">
                <a:tc>
                  <a:txBody>
                    <a:bodyPr/>
                    <a:lstStyle/>
                    <a:p>
                      <a:pPr>
                        <a:defRPr sz="1000">
                          <a:solidFill>
                            <a:srgbClr val="94A3B8"/>
                          </a:solidFill>
                        </a:defRPr>
                      </a:pPr>
                      <a:r>
                        <a:t>Credential Privacy</a:t>
                      </a:r>
                    </a:p>
                  </a:txBody>
                  <a:tcPr>
                    <a:solidFill>
                      <a:srgbClr val="12141A"/>
                    </a:solidFill>
                  </a:tcPr>
                </a:tc>
                <a:tc>
                  <a:txBody>
                    <a:bodyPr/>
                    <a:lstStyle/>
                    <a:p>
                      <a:pPr>
                        <a:defRPr sz="1000">
                          <a:solidFill>
                            <a:srgbClr val="94A3B8"/>
                          </a:solidFill>
                        </a:defRPr>
                      </a:pPr>
                      <a:r>
                        <a:t>Exposed to external cloud APIs</a:t>
                      </a:r>
                    </a:p>
                  </a:txBody>
                  <a:tcPr>
                    <a:solidFill>
                      <a:srgbClr val="12141A"/>
                    </a:solidFill>
                  </a:tcPr>
                </a:tc>
                <a:tc>
                  <a:txBody>
                    <a:bodyPr/>
                    <a:lstStyle/>
                    <a:p>
                      <a:pPr>
                        <a:defRPr sz="1000">
                          <a:solidFill>
                            <a:srgbClr val="94A3B8"/>
                          </a:solidFill>
                        </a:defRPr>
                      </a:pPr>
                      <a:r>
                        <a:t>N/A</a:t>
                      </a:r>
                    </a:p>
                  </a:txBody>
                  <a:tcPr>
                    <a:solidFill>
                      <a:srgbClr val="12141A"/>
                    </a:solidFill>
                  </a:tcPr>
                </a:tc>
                <a:tc>
                  <a:txBody>
                    <a:bodyPr/>
                    <a:lstStyle/>
                    <a:p>
                      <a:pPr>
                        <a:defRPr sz="1000">
                          <a:solidFill>
                            <a:srgbClr val="00F5A0"/>
                          </a:solidFill>
                        </a:defRPr>
                      </a:pPr>
                      <a:r>
                        <a:t>Strict Zero-Storage: Local browser entropy math</a:t>
                      </a:r>
                    </a:p>
                  </a:txBody>
                  <a:tcPr>
                    <a:solidFill>
                      <a:srgbClr val="12141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Technology Stack &amp; Verified Project Dependencies</a:t>
            </a:r>
          </a:p>
        </p:txBody>
      </p:sp>
      <p:sp>
        <p:nvSpPr>
          <p:cNvPr id="4" name="Rounded Rectangle 3"/>
          <p:cNvSpPr/>
          <p:nvPr/>
        </p:nvSpPr>
        <p:spPr>
          <a:xfrm>
            <a:off x="731520" y="1463040"/>
            <a:ext cx="2560320" cy="466344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286000" cy="4297680"/>
          </a:xfrm>
          <a:prstGeom prst="rect">
            <a:avLst/>
          </a:prstGeom>
          <a:noFill/>
        </p:spPr>
        <p:txBody>
          <a:bodyPr wrap="square">
            <a:spAutoFit/>
          </a:bodyPr>
          <a:lstStyle/>
          <a:p>
            <a:pPr>
              <a:defRPr sz="1300" b="1">
                <a:solidFill>
                  <a:srgbClr val="00E5FF"/>
                </a:solidFill>
              </a:defRPr>
            </a:pPr>
            <a:r>
              <a:t>Backend &amp; Controller</a:t>
            </a:r>
          </a:p>
          <a:p>
            <a:br/>
            <a:pPr>
              <a:defRPr sz="1000">
                <a:solidFill>
                  <a:srgbClr val="F1F5F9"/>
                </a:solidFill>
              </a:defRPr>
            </a:pPr>
            <a:r>
              <a:t>• Python 3.12 (CPython Core)</a:t>
            </a:r>
            <a:br/>
            <a:r>
              <a:t>• Flask 3.1.3 (WSGI Framework)</a:t>
            </a:r>
            <a:br/>
            <a:r>
              <a:t>• Werkzeug 3.1.9 (HTTP Router)</a:t>
            </a:r>
            <a:br/>
            <a:r>
              <a:t>• Flask-Limiter 4.1.1 (Rate Defense)</a:t>
            </a:r>
          </a:p>
        </p:txBody>
      </p:sp>
      <p:sp>
        <p:nvSpPr>
          <p:cNvPr id="6" name="Rounded Rectangle 5"/>
          <p:cNvSpPr/>
          <p:nvPr/>
        </p:nvSpPr>
        <p:spPr>
          <a:xfrm>
            <a:off x="3429000" y="1463040"/>
            <a:ext cx="2560320" cy="466344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45920"/>
            <a:ext cx="2286000" cy="4297680"/>
          </a:xfrm>
          <a:prstGeom prst="rect">
            <a:avLst/>
          </a:prstGeom>
          <a:noFill/>
        </p:spPr>
        <p:txBody>
          <a:bodyPr wrap="square">
            <a:spAutoFit/>
          </a:bodyPr>
          <a:lstStyle/>
          <a:p>
            <a:pPr>
              <a:defRPr sz="1300" b="1">
                <a:solidFill>
                  <a:srgbClr val="00F5A0"/>
                </a:solidFill>
              </a:defRPr>
            </a:pPr>
            <a:r>
              <a:t>Machine Learning &amp; Forensics</a:t>
            </a:r>
          </a:p>
          <a:p>
            <a:br/>
            <a:pPr>
              <a:defRPr sz="1000">
                <a:solidFill>
                  <a:srgbClr val="F1F5F9"/>
                </a:solidFill>
              </a:defRPr>
            </a:pPr>
            <a:r>
              <a:t>• Scikit-Learn 1.9.1 (Random Forest)</a:t>
            </a:r>
            <a:br/>
            <a:r>
              <a:t>• NumPy 2.5.4 &amp; Pandas 3.1.0</a:t>
            </a:r>
            <a:br/>
            <a:r>
              <a:t>• Joblib 1.6.0 (Model Persistence)</a:t>
            </a:r>
            <a:br/>
            <a:r>
              <a:t>• tldextract 5.4.0 (ccTLD Parsing)</a:t>
            </a:r>
          </a:p>
        </p:txBody>
      </p:sp>
      <p:sp>
        <p:nvSpPr>
          <p:cNvPr id="8" name="Rounded Rectangle 7"/>
          <p:cNvSpPr/>
          <p:nvPr/>
        </p:nvSpPr>
        <p:spPr>
          <a:xfrm>
            <a:off x="6126480" y="1463040"/>
            <a:ext cx="2560320" cy="466344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45920"/>
            <a:ext cx="2286000" cy="4297680"/>
          </a:xfrm>
          <a:prstGeom prst="rect">
            <a:avLst/>
          </a:prstGeom>
          <a:noFill/>
        </p:spPr>
        <p:txBody>
          <a:bodyPr wrap="square">
            <a:spAutoFit/>
          </a:bodyPr>
          <a:lstStyle/>
          <a:p>
            <a:pPr>
              <a:defRPr sz="1300" b="1">
                <a:solidFill>
                  <a:srgbClr val="00E5FF"/>
                </a:solidFill>
              </a:defRPr>
            </a:pPr>
            <a:r>
              <a:t>Persistence &amp; Reporting</a:t>
            </a:r>
          </a:p>
          <a:p>
            <a:br/>
            <a:pPr>
              <a:defRPr sz="1000">
                <a:solidFill>
                  <a:srgbClr val="F1F5F9"/>
                </a:solidFill>
              </a:defRPr>
            </a:pPr>
            <a:r>
              <a:t>• SQLite3 with WAL Journal Mode</a:t>
            </a:r>
            <a:br/>
            <a:r>
              <a:t>• In-Place Upsert Deduplication</a:t>
            </a:r>
            <a:br/>
            <a:r>
              <a:t>• ReportLab 5.1.0 (PDF Engine)</a:t>
            </a:r>
            <a:br/>
            <a:r>
              <a:t>• Pytest 9.2.0 (Automation Suite)</a:t>
            </a:r>
          </a:p>
        </p:txBody>
      </p:sp>
      <p:sp>
        <p:nvSpPr>
          <p:cNvPr id="10" name="Rounded Rectangle 9"/>
          <p:cNvSpPr/>
          <p:nvPr/>
        </p:nvSpPr>
        <p:spPr>
          <a:xfrm>
            <a:off x="8823960" y="1463040"/>
            <a:ext cx="2560320" cy="466344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645920"/>
            <a:ext cx="2286000" cy="4297680"/>
          </a:xfrm>
          <a:prstGeom prst="rect">
            <a:avLst/>
          </a:prstGeom>
          <a:noFill/>
        </p:spPr>
        <p:txBody>
          <a:bodyPr wrap="square">
            <a:spAutoFit/>
          </a:bodyPr>
          <a:lstStyle/>
          <a:p>
            <a:pPr>
              <a:defRPr sz="1300" b="1">
                <a:solidFill>
                  <a:srgbClr val="00F5A0"/>
                </a:solidFill>
              </a:defRPr>
            </a:pPr>
            <a:r>
              <a:t>Frontend &amp; Deployment</a:t>
            </a:r>
          </a:p>
          <a:p>
            <a:br/>
            <a:pPr>
              <a:defRPr sz="1000">
                <a:solidFill>
                  <a:srgbClr val="F1F5F9"/>
                </a:solidFill>
              </a:defRPr>
            </a:pPr>
            <a:r>
              <a:t>• Responsive HTML5 / CSS3 Neon UI</a:t>
            </a:r>
            <a:br/>
            <a:r>
              <a:t>• Chart.js 4.4.2 &amp; Lucide Icons</a:t>
            </a:r>
            <a:br/>
            <a:r>
              <a:t>• Vercel Serverless Python Bridge</a:t>
            </a:r>
            <a:br/>
            <a:r>
              <a:t>• Ephemeral /tmp Auto-Routing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System Architecture: Multi-Tier Intelligence Pipeline</a:t>
            </a:r>
          </a:p>
        </p:txBody>
      </p:sp>
      <p:pic>
        <p:nvPicPr>
          <p:cNvPr id="4" name="Picture 3" descr="fig1_system_architecture.png"/>
          <p:cNvPicPr>
            <a:picLocks noChangeAspect="1"/>
          </p:cNvPicPr>
          <p:nvPr/>
        </p:nvPicPr>
        <p:blipFill>
          <a:blip r:embed="rId2"/>
          <a:stretch>
            <a:fillRect/>
          </a:stretch>
        </p:blipFill>
        <p:spPr>
          <a:xfrm>
            <a:off x="731520" y="1463040"/>
            <a:ext cx="6858000" cy="4663440"/>
          </a:xfrm>
          <a:prstGeom prst="rect">
            <a:avLst/>
          </a:prstGeom>
        </p:spPr>
      </p:pic>
      <p:sp>
        <p:nvSpPr>
          <p:cNvPr id="5" name="Rounded Rectangle 4"/>
          <p:cNvSpPr/>
          <p:nvPr/>
        </p:nvSpPr>
        <p:spPr>
          <a:xfrm>
            <a:off x="7772400" y="1463040"/>
            <a:ext cx="3657600" cy="466344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645920"/>
            <a:ext cx="3291840" cy="4297680"/>
          </a:xfrm>
          <a:prstGeom prst="rect">
            <a:avLst/>
          </a:prstGeom>
          <a:noFill/>
        </p:spPr>
        <p:txBody>
          <a:bodyPr wrap="square">
            <a:spAutoFit/>
          </a:bodyPr>
          <a:lstStyle/>
          <a:p>
            <a:pPr>
              <a:defRPr sz="1500" b="1">
                <a:solidFill>
                  <a:srgbClr val="00F5A0"/>
                </a:solidFill>
              </a:defRPr>
            </a:pPr>
            <a:r>
              <a:t>Architectural Highlights</a:t>
            </a:r>
          </a:p>
          <a:p>
            <a:br/>
            <a:pPr>
              <a:defRPr sz="950">
                <a:solidFill>
                  <a:srgbClr val="F1F5F9"/>
                </a:solidFill>
              </a:defRPr>
            </a:pPr>
            <a:r>
              <a:t>1. Presentation Layer:</a:t>
            </a:r>
            <a:br/>
            <a:r>
              <a:t>Unified dark SOC interface with 5 compact metric cards and modular workspace cards.</a:t>
            </a:r>
            <a:br/>
            <a:br/>
            <a:r>
              <a:t>2. WSGI Controller:</a:t>
            </a:r>
            <a:br/>
            <a:r>
              <a:t>Flask application factory coordinating API endpoints with rate limiting and serverless fallbacks.</a:t>
            </a:r>
            <a:br/>
            <a:br/>
            <a:r>
              <a:t>3. Core Engines:</a:t>
            </a:r>
            <a:br/>
            <a:r>
              <a:t>Random Forest classifier, format-aware entropy calculator, and zero-storage password auditor.</a:t>
            </a:r>
            <a:br/>
            <a:br/>
            <a:r>
              <a:t>4. Data &amp; Reporting:</a:t>
            </a:r>
            <a:br/>
            <a:r>
              <a:t>SQLite WAL persistence with upsert deduplication and ReportLab PDF streaming.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Working Process: End-to-End Threat Analysis Pipelines</a:t>
            </a:r>
          </a:p>
        </p:txBody>
      </p:sp>
      <p:pic>
        <p:nvPicPr>
          <p:cNvPr id="4" name="Picture 3" descr="fig3_url_scan_workflow.png"/>
          <p:cNvPicPr>
            <a:picLocks noChangeAspect="1"/>
          </p:cNvPicPr>
          <p:nvPr/>
        </p:nvPicPr>
        <p:blipFill>
          <a:blip r:embed="rId2"/>
          <a:stretch>
            <a:fillRect/>
          </a:stretch>
        </p:blipFill>
        <p:spPr>
          <a:xfrm>
            <a:off x="731520" y="1463040"/>
            <a:ext cx="5212080" cy="3474720"/>
          </a:xfrm>
          <a:prstGeom prst="rect">
            <a:avLst/>
          </a:prstGeom>
        </p:spPr>
      </p:pic>
      <p:pic>
        <p:nvPicPr>
          <p:cNvPr id="5" name="Picture 4" descr="fig4_file_scan_workflow.png"/>
          <p:cNvPicPr>
            <a:picLocks noChangeAspect="1"/>
          </p:cNvPicPr>
          <p:nvPr/>
        </p:nvPicPr>
        <p:blipFill>
          <a:blip r:embed="rId3"/>
          <a:stretch>
            <a:fillRect/>
          </a:stretch>
        </p:blipFill>
        <p:spPr>
          <a:xfrm>
            <a:off x="6217920" y="1463040"/>
            <a:ext cx="5212080" cy="3474720"/>
          </a:xfrm>
          <a:prstGeom prst="rect">
            <a:avLst/>
          </a:prstGeom>
        </p:spPr>
      </p:pic>
      <p:sp>
        <p:nvSpPr>
          <p:cNvPr id="6" name="Rounded Rectangle 5"/>
          <p:cNvSpPr/>
          <p:nvPr/>
        </p:nvSpPr>
        <p:spPr>
          <a:xfrm>
            <a:off x="731520" y="5120640"/>
            <a:ext cx="10728655" cy="128016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12080"/>
            <a:ext cx="10332720" cy="1005840"/>
          </a:xfrm>
          <a:prstGeom prst="rect">
            <a:avLst/>
          </a:prstGeom>
          <a:noFill/>
        </p:spPr>
        <p:txBody>
          <a:bodyPr wrap="square">
            <a:spAutoFit/>
          </a:bodyPr>
          <a:lstStyle/>
          <a:p>
            <a:pPr>
              <a:defRPr sz="1100" b="1">
                <a:solidFill>
                  <a:srgbClr val="00E5FF"/>
                </a:solidFill>
              </a:defRPr>
            </a:pPr>
            <a:r>
              <a:t>EXECUTION PIPELINE SUMMARY:</a:t>
            </a:r>
          </a:p>
          <a:p>
            <a:pPr>
              <a:defRPr sz="950">
                <a:solidFill>
                  <a:srgbClr val="F1F5F9"/>
                </a:solidFill>
              </a:defRPr>
            </a:pPr>
            <a:r>
              <a:t>• URL Pipeline: Sanitize input -&gt; Check apex whitelist -&gt; Extract 26 features -&gt; RF inference -&gt; Calibrate 0-100 risk score -&gt; Upsert SQLite.</a:t>
            </a:r>
            <a:br/>
            <a:r>
              <a:t>• File Pipeline: Volatile memory buffer -&gt; Compute SHA-256/SHA-1/MD5 -&gt; Verify magic bytes -&gt; Assess format-aware entropy -&gt; Probe ClamAV -&gt; Generate 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Main Features: Modular Cybersecurity Capabilities</a:t>
            </a:r>
          </a:p>
        </p:txBody>
      </p:sp>
      <p:sp>
        <p:nvSpPr>
          <p:cNvPr id="4" name="Rounded Rectangle 3"/>
          <p:cNvSpPr/>
          <p:nvPr/>
        </p:nvSpPr>
        <p:spPr>
          <a:xfrm>
            <a:off x="731520" y="1463040"/>
            <a:ext cx="5120640" cy="219456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1828800"/>
          </a:xfrm>
          <a:prstGeom prst="rect">
            <a:avLst/>
          </a:prstGeom>
          <a:noFill/>
        </p:spPr>
        <p:txBody>
          <a:bodyPr wrap="square">
            <a:spAutoFit/>
          </a:bodyPr>
          <a:lstStyle/>
          <a:p>
            <a:pPr>
              <a:defRPr sz="1400" b="1">
                <a:solidFill>
                  <a:srgbClr val="00F5A0"/>
                </a:solidFill>
              </a:defRPr>
            </a:pPr>
            <a:r>
              <a:t>Live URL Threat Scanner</a:t>
            </a:r>
          </a:p>
          <a:p>
            <a:pPr>
              <a:defRPr sz="1000">
                <a:solidFill>
                  <a:srgbClr val="F1F5F9"/>
                </a:solidFill>
              </a:defRPr>
            </a:pPr>
            <a:r>
              <a:t>• 26-layer lexical feature extraction matrix</a:t>
            </a:r>
            <a:br/>
            <a:r>
              <a:t>• Random Forest ML classifier (100 decision trees)</a:t>
            </a:r>
            <a:br/>
            <a:r>
              <a:t>• Brand typosquatting detection for 30 institutions</a:t>
            </a:r>
            <a:br/>
            <a:r>
              <a:t>• Shannon domain entropy &amp; punycode checks</a:t>
            </a:r>
          </a:p>
        </p:txBody>
      </p:sp>
      <p:sp>
        <p:nvSpPr>
          <p:cNvPr id="6" name="Rounded Rectangle 5"/>
          <p:cNvSpPr/>
          <p:nvPr/>
        </p:nvSpPr>
        <p:spPr>
          <a:xfrm>
            <a:off x="6126480" y="1463040"/>
            <a:ext cx="5120640" cy="219456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4754880" cy="1828800"/>
          </a:xfrm>
          <a:prstGeom prst="rect">
            <a:avLst/>
          </a:prstGeom>
          <a:noFill/>
        </p:spPr>
        <p:txBody>
          <a:bodyPr wrap="square">
            <a:spAutoFit/>
          </a:bodyPr>
          <a:lstStyle/>
          <a:p>
            <a:pPr>
              <a:defRPr sz="1400" b="1">
                <a:solidFill>
                  <a:srgbClr val="00E5FF"/>
                </a:solidFill>
              </a:defRPr>
            </a:pPr>
            <a:r>
              <a:t>File Virus &amp; Threat Scanner</a:t>
            </a:r>
          </a:p>
          <a:p>
            <a:pPr>
              <a:defRPr sz="1000">
                <a:solidFill>
                  <a:srgbClr val="F1F5F9"/>
                </a:solidFill>
              </a:defRPr>
            </a:pPr>
            <a:r>
              <a:t>• Multi-algorithm hashes: SHA-256, SHA-1, MD5</a:t>
            </a:r>
            <a:br/>
            <a:r>
              <a:t>• Magic byte header verification vs extensions</a:t>
            </a:r>
            <a:br/>
            <a:r>
              <a:t>• Format-aware entropy eliminates PDF/ZIP false alerts</a:t>
            </a:r>
            <a:br/>
            <a:r>
              <a:t>• ClamAV bridge with automated heuristic fallback</a:t>
            </a:r>
          </a:p>
        </p:txBody>
      </p:sp>
      <p:sp>
        <p:nvSpPr>
          <p:cNvPr id="8" name="Rounded Rectangle 7"/>
          <p:cNvSpPr/>
          <p:nvPr/>
        </p:nvSpPr>
        <p:spPr>
          <a:xfrm>
            <a:off x="731520" y="3931920"/>
            <a:ext cx="5120640" cy="219456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754880" cy="1828800"/>
          </a:xfrm>
          <a:prstGeom prst="rect">
            <a:avLst/>
          </a:prstGeom>
          <a:noFill/>
        </p:spPr>
        <p:txBody>
          <a:bodyPr wrap="square">
            <a:spAutoFit/>
          </a:bodyPr>
          <a:lstStyle/>
          <a:p>
            <a:pPr>
              <a:defRPr sz="1400" b="1">
                <a:solidFill>
                  <a:srgbClr val="00F5A0"/>
                </a:solidFill>
              </a:defRPr>
            </a:pPr>
            <a:r>
              <a:t>Password Security Analyzer</a:t>
            </a:r>
          </a:p>
          <a:p>
            <a:pPr>
              <a:defRPr sz="1000">
                <a:solidFill>
                  <a:srgbClr val="F1F5F9"/>
                </a:solidFill>
              </a:defRPr>
            </a:pPr>
            <a:r>
              <a:t>• Mathematical Shannon bit entropy calculation</a:t>
            </a:r>
            <a:br/>
            <a:r>
              <a:t>• Sequential walk, repeat, and dictionary detection</a:t>
            </a:r>
            <a:br/>
            <a:r>
              <a:t>• Strict Zero-Storage privacy guarantee (No DB)</a:t>
            </a:r>
            <a:br/>
            <a:r>
              <a:t>• 20-character CSPRNG secure password generator</a:t>
            </a:r>
          </a:p>
        </p:txBody>
      </p:sp>
      <p:sp>
        <p:nvSpPr>
          <p:cNvPr id="10" name="Rounded Rectangle 9"/>
          <p:cNvSpPr/>
          <p:nvPr/>
        </p:nvSpPr>
        <p:spPr>
          <a:xfrm>
            <a:off x="6126480" y="3931920"/>
            <a:ext cx="5120640" cy="219456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114800"/>
            <a:ext cx="4754880" cy="1828800"/>
          </a:xfrm>
          <a:prstGeom prst="rect">
            <a:avLst/>
          </a:prstGeom>
          <a:noFill/>
        </p:spPr>
        <p:txBody>
          <a:bodyPr wrap="square">
            <a:spAutoFit/>
          </a:bodyPr>
          <a:lstStyle/>
          <a:p>
            <a:pPr>
              <a:defRPr sz="1400" b="1">
                <a:solidFill>
                  <a:srgbClr val="00E5FF"/>
                </a:solidFill>
              </a:defRPr>
            </a:pPr>
            <a:r>
              <a:t>Executive SOC Dashboard</a:t>
            </a:r>
          </a:p>
          <a:p>
            <a:pPr>
              <a:defRPr sz="1000">
                <a:solidFill>
                  <a:srgbClr val="F1F5F9"/>
                </a:solidFill>
              </a:defRPr>
            </a:pPr>
            <a:r>
              <a:t>• 5 high-level real-time telemetry cards</a:t>
            </a:r>
            <a:br/>
            <a:r>
              <a:t>• Chart.js interactive verdict distribution radar</a:t>
            </a:r>
            <a:br/>
            <a:r>
              <a:t>• SQLite WAL mode with upsert deduplication</a:t>
            </a:r>
            <a:br/>
            <a:r>
              <a:t>• On-demand downloadable ReportLab PDF reports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Empirical Results &amp; Production Interface Walkthrough</a:t>
            </a:r>
          </a:p>
        </p:txBody>
      </p:sp>
      <p:pic>
        <p:nvPicPr>
          <p:cNvPr id="4" name="Picture 3" descr="fig7_actual_settings_screenshot.png"/>
          <p:cNvPicPr>
            <a:picLocks noChangeAspect="1"/>
          </p:cNvPicPr>
          <p:nvPr/>
        </p:nvPicPr>
        <p:blipFill>
          <a:blip r:embed="rId2"/>
          <a:stretch>
            <a:fillRect/>
          </a:stretch>
        </p:blipFill>
        <p:spPr>
          <a:xfrm>
            <a:off x="731520" y="1463040"/>
            <a:ext cx="5486400" cy="3108960"/>
          </a:xfrm>
          <a:prstGeom prst="rect">
            <a:avLst/>
          </a:prstGeom>
        </p:spPr>
      </p:pic>
      <p:pic>
        <p:nvPicPr>
          <p:cNvPr id="5" name="Picture 4" descr="fig8_url_scanner_ui.png"/>
          <p:cNvPicPr>
            <a:picLocks noChangeAspect="1"/>
          </p:cNvPicPr>
          <p:nvPr/>
        </p:nvPicPr>
        <p:blipFill>
          <a:blip r:embed="rId3"/>
          <a:stretch>
            <a:fillRect/>
          </a:stretch>
        </p:blipFill>
        <p:spPr>
          <a:xfrm>
            <a:off x="6400800" y="1463040"/>
            <a:ext cx="5029200" cy="3108960"/>
          </a:xfrm>
          <a:prstGeom prst="rect">
            <a:avLst/>
          </a:prstGeom>
        </p:spPr>
      </p:pic>
      <p:sp>
        <p:nvSpPr>
          <p:cNvPr id="6" name="Rounded Rectangle 5"/>
          <p:cNvSpPr/>
          <p:nvPr/>
        </p:nvSpPr>
        <p:spPr>
          <a:xfrm>
            <a:off x="731520" y="4754880"/>
            <a:ext cx="10728655" cy="164592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46320"/>
            <a:ext cx="10332720" cy="1371600"/>
          </a:xfrm>
          <a:prstGeom prst="rect">
            <a:avLst/>
          </a:prstGeom>
          <a:noFill/>
        </p:spPr>
        <p:txBody>
          <a:bodyPr wrap="square">
            <a:spAutoFit/>
          </a:bodyPr>
          <a:lstStyle/>
          <a:p>
            <a:pPr>
              <a:defRPr sz="1100" b="1">
                <a:solidFill>
                  <a:srgbClr val="00F5A0"/>
                </a:solidFill>
              </a:defRPr>
            </a:pPr>
            <a:r>
              <a:t>EMPIRICAL TEST RESULTS (PYTEST 9.2.0):</a:t>
            </a:r>
          </a:p>
          <a:p>
            <a:pPr>
              <a:defRPr sz="950">
                <a:solidFill>
                  <a:srgbClr val="F1F5F9"/>
                </a:solidFill>
              </a:defRPr>
            </a:pPr>
            <a:r>
              <a:t>• 31 / 31 Automated Tests Passed (100% Success Rate across database, detector, features, files, passwords, and routes).</a:t>
            </a:r>
            <a:br/>
            <a:r>
              <a:t>• Random Forest Classifier: 93.8% – 100% Accuracy on synthesized test sets (Precision: 1.0, Recall: 1.0, F1-Score: 1.0).</a:t>
            </a:r>
            <a:br/>
            <a:r>
              <a:t>• Fast-Path Allowlist Latency: &lt; 2.0 ms execution time on verified apex domains (Google, Microsoft, GitHub, Wikipedia).</a:t>
            </a:r>
            <a:br/>
            <a:r>
              <a:t>• Verified Live Deployment: Configured and running via Vercel serverless Python runtime.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000" b="1">
                <a:solidFill>
                  <a:srgbClr val="00F5A0"/>
                </a:solidFill>
              </a:defRPr>
            </a:pPr>
            <a:r>
              <a:t>PHISHGUARD // CYBER INTELLIGENCE PLATFORM</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1F5F9"/>
                </a:solidFill>
              </a:defRPr>
            </a:pPr>
            <a:r>
              <a:t>Limitations &amp; Future Scope: Engineering Honesty &amp; Roadmap</a:t>
            </a:r>
          </a:p>
        </p:txBody>
      </p:sp>
      <p:sp>
        <p:nvSpPr>
          <p:cNvPr id="4" name="Rounded Rectangle 3"/>
          <p:cNvSpPr/>
          <p:nvPr/>
        </p:nvSpPr>
        <p:spPr>
          <a:xfrm>
            <a:off x="731520" y="1463040"/>
            <a:ext cx="5212080" cy="4663440"/>
          </a:xfrm>
          <a:prstGeom prst="roundRect">
            <a:avLst/>
          </a:prstGeom>
          <a:solidFill>
            <a:srgbClr val="1214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46320" cy="4297680"/>
          </a:xfrm>
          <a:prstGeom prst="rect">
            <a:avLst/>
          </a:prstGeom>
          <a:noFill/>
        </p:spPr>
        <p:txBody>
          <a:bodyPr wrap="square">
            <a:spAutoFit/>
          </a:bodyPr>
          <a:lstStyle/>
          <a:p>
            <a:pPr>
              <a:defRPr sz="1500" b="1">
                <a:solidFill>
                  <a:srgbClr val="EF4444"/>
                </a:solidFill>
              </a:defRPr>
            </a:pPr>
            <a:r>
              <a:t>Current Technical Limitations</a:t>
            </a:r>
          </a:p>
          <a:p>
            <a:br/>
            <a:pPr>
              <a:defRPr sz="1000">
                <a:solidFill>
                  <a:srgbClr val="F1F5F9"/>
                </a:solidFill>
              </a:defRPr>
            </a:pPr>
            <a:r>
              <a:t>1. Serverless Storage Ephemerality:</a:t>
            </a:r>
            <a:br/>
            <a:r>
              <a:t>On serverless platforms like Vercel, the local SQLite database in /tmp is ephemeral and recycles during container scale-down.</a:t>
            </a:r>
            <a:br/>
            <a:br/>
            <a:r>
              <a:t>2. Offline ClamAV Constraint:</a:t>
            </a:r>
            <a:br/>
            <a:r>
              <a:t>Full antivirus signature scanning requires a local clamscan binary; offline containers rely exclusively on static heuristics.</a:t>
            </a:r>
            <a:br/>
            <a:br/>
            <a:r>
              <a:t>3. Static Lexical Scope:</a:t>
            </a:r>
            <a:br/>
            <a:r>
              <a:t>Lightweight analysis evaluates URLs without executing client-side JavaScript or rendering dynamic post-load DOM mutations.</a:t>
            </a:r>
          </a:p>
        </p:txBody>
      </p:sp>
      <p:sp>
        <p:nvSpPr>
          <p:cNvPr id="6" name="Rounded Rectangle 5"/>
          <p:cNvSpPr/>
          <p:nvPr/>
        </p:nvSpPr>
        <p:spPr>
          <a:xfrm>
            <a:off x="6217920" y="1463040"/>
            <a:ext cx="5212080" cy="4663440"/>
          </a:xfrm>
          <a:prstGeom prst="roundRect">
            <a:avLst/>
          </a:prstGeom>
          <a:solidFill>
            <a:srgbClr val="12141A"/>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297680"/>
          </a:xfrm>
          <a:prstGeom prst="rect">
            <a:avLst/>
          </a:prstGeom>
          <a:noFill/>
        </p:spPr>
        <p:txBody>
          <a:bodyPr wrap="square">
            <a:spAutoFit/>
          </a:bodyPr>
          <a:lstStyle/>
          <a:p>
            <a:pPr>
              <a:defRPr sz="1500" b="1">
                <a:solidFill>
                  <a:srgbClr val="00E5FF"/>
                </a:solidFill>
              </a:defRPr>
            </a:pPr>
            <a:r>
              <a:t>Future Engineering Roadmap</a:t>
            </a:r>
          </a:p>
          <a:p>
            <a:br/>
            <a:pPr>
              <a:defRPr sz="1000">
                <a:solidFill>
                  <a:srgbClr val="F1F5F9"/>
                </a:solidFill>
              </a:defRPr>
            </a:pPr>
            <a:r>
              <a:t>1. External Threat Feed Aggregation:</a:t>
            </a:r>
            <a:br/>
            <a:r>
              <a:t>Integrate live VirusTotal, Google Safe Browsing, and AlienVault OTX APIs for multi-engine global consensus.</a:t>
            </a:r>
            <a:br/>
            <a:br/>
            <a:r>
              <a:t>2. Headless Browser Visual Rendering:</a:t>
            </a:r>
            <a:br/>
            <a:r>
              <a:t>Deploy Playwright/Puppeteer inside microVMs to capture rendered screenshots and compare visual brand layout similarity.</a:t>
            </a:r>
            <a:br/>
            <a:br/>
            <a:r>
              <a:t>3. Managed Cloud Persistence:</a:t>
            </a:r>
            <a:br/>
            <a:r>
              <a:t>Connect AWS RDS PostgreSQL, Supabase, or Neon to maintain persistent cross-region audit history on serverless.</a:t>
            </a:r>
            <a:br/>
            <a:br/>
            <a:r>
              <a:t>4. Browser Extension Ecosystem:</a:t>
            </a:r>
            <a:br/>
            <a:r>
              <a:t>Package feature extraction logic as a Chromium extension for real-time endpoint warning.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B"/>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2141A"/>
          </a:solidFill>
          <a:ln w="12700">
            <a:solidFill>
              <a:srgbClr val="00F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966960" cy="2011680"/>
          </a:xfrm>
          <a:prstGeom prst="rect">
            <a:avLst/>
          </a:prstGeom>
          <a:noFill/>
        </p:spPr>
        <p:txBody>
          <a:bodyPr wrap="square">
            <a:spAutoFit/>
          </a:bodyPr>
          <a:lstStyle/>
          <a:p>
            <a:pPr>
              <a:defRPr sz="2800" b="1">
                <a:solidFill>
                  <a:srgbClr val="00F5A0"/>
                </a:solidFill>
              </a:defRPr>
            </a:pPr>
            <a:r>
              <a:t>PHISHGUARD — CONCLUSION</a:t>
            </a:r>
          </a:p>
          <a:p>
            <a:pPr>
              <a:defRPr sz="1100">
                <a:solidFill>
                  <a:srgbClr val="F1F5F9"/>
                </a:solidFill>
              </a:defRPr>
            </a:pPr>
            <a:r>
              <a:t>• Successfully engineered a lightweight, multi-tier cyber defense workstation in Python &amp; Flask.</a:t>
            </a:r>
            <a:br/>
            <a:r>
              <a:t>• Combined a 26-layer lexical feature engine with Random Forest machine learning for zero-day phishing detection.</a:t>
            </a:r>
            <a:br/>
            <a:r>
              <a:t>• Solved the naive entropy false positive problem using format-aware Shannon byte distribution algorithms.</a:t>
            </a:r>
            <a:br/>
            <a:r>
              <a:t>• Implemented zero-storage credential defense, SQLite upsert deduplication, and automated ReportLab PDF reports.</a:t>
            </a:r>
            <a:br/>
            <a:r>
              <a:t>• 100% verification rate confirmed across 31 automated Pytest unit and integration test cases.</a:t>
            </a:r>
          </a:p>
        </p:txBody>
      </p:sp>
      <p:sp>
        <p:nvSpPr>
          <p:cNvPr id="4" name="TextBox 3"/>
          <p:cNvSpPr txBox="1"/>
          <p:nvPr/>
        </p:nvSpPr>
        <p:spPr>
          <a:xfrm>
            <a:off x="1097280" y="3474720"/>
            <a:ext cx="9966960" cy="2286000"/>
          </a:xfrm>
          <a:prstGeom prst="rect">
            <a:avLst/>
          </a:prstGeom>
          <a:noFill/>
        </p:spPr>
        <p:txBody>
          <a:bodyPr wrap="square">
            <a:spAutoFit/>
          </a:bodyPr>
          <a:lstStyle/>
          <a:p>
            <a:pPr>
              <a:defRPr sz="3600" b="1">
                <a:solidFill>
                  <a:srgbClr val="00E5FF"/>
                </a:solidFill>
              </a:defRPr>
            </a:pPr>
            <a:r>
              <a:t>THANK YOU!</a:t>
            </a:r>
          </a:p>
          <a:p>
            <a:pPr>
              <a:defRPr sz="1600" b="1">
                <a:solidFill>
                  <a:srgbClr val="F1F5F9"/>
                </a:solidFill>
              </a:defRPr>
            </a:pPr>
            <a:r>
              <a:t>Questions &amp; Technical Discussion Welcomed</a:t>
            </a:r>
          </a:p>
          <a:p>
            <a:pPr>
              <a:defRPr sz="1050">
                <a:solidFill>
                  <a:srgbClr val="94A3B8"/>
                </a:solidFill>
              </a:defRPr>
            </a:pPr>
            <a:r>
              <a:t>Project: PHISHGUARD — Cyber Intelligence Platform  |  Candidate: [STUDENT NAME]  |  Guide: [GUIDE NAME]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